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-914400"/>
            <a:ext cx="6400800" cy="5486400"/>
          </a:xfrm>
          <a:prstGeom prst="rect">
            <a:avLst/>
          </a:prstGeom>
          <a:solidFill>
            <a:srgbClr val="16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0" y="3657600"/>
            <a:ext cx="6400800" cy="4572000"/>
          </a:xfrm>
          <a:prstGeom prst="rect">
            <a:avLst/>
          </a:prstGeom>
          <a:solidFill>
            <a:srgbClr val="0A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INTERNAL LAUNCH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ShopBrain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651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818CF8"/>
                </a:solidFill>
              </a:rPr>
              <a:t>CRM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749039"/>
            <a:ext cx="6400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2B8C8"/>
                </a:solidFill>
              </a:rPr>
              <a:t>Your complete revenue intelligence &amp; operations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343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2B8C8"/>
                </a:solidFill>
              </a:rPr>
              <a:t>built for the team, by the team.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4937760"/>
            <a:ext cx="1431036" cy="274320"/>
          </a:xfrm>
          <a:prstGeom prst="rect">
            <a:avLst/>
          </a:prstGeom>
          <a:solidFill>
            <a:srgbClr val="1E224A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4974336"/>
            <a:ext cx="12481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366F1"/>
                </a:solidFill>
              </a:rPr>
              <a:t>📊 Analytics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45636" y="4937760"/>
            <a:ext cx="1956816" cy="274320"/>
          </a:xfrm>
          <a:prstGeom prst="rect">
            <a:avLst/>
          </a:prstGeom>
          <a:solidFill>
            <a:srgbClr val="1E224A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7076" y="4974336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366F1"/>
                </a:solidFill>
              </a:rPr>
              <a:t>🚀 Sales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1052" y="4937760"/>
            <a:ext cx="1641348" cy="274320"/>
          </a:xfrm>
          <a:prstGeom prst="rect">
            <a:avLst/>
          </a:prstGeom>
          <a:solidFill>
            <a:srgbClr val="1E224A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2492" y="4974336"/>
            <a:ext cx="14584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366F1"/>
                </a:solidFill>
              </a:rPr>
              <a:t>🏗️ Operations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4937760"/>
            <a:ext cx="1431036" cy="274320"/>
          </a:xfrm>
          <a:prstGeom prst="rect">
            <a:avLst/>
          </a:prstGeom>
          <a:solidFill>
            <a:srgbClr val="1E224A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974336"/>
            <a:ext cx="12481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366F1"/>
                </a:solidFill>
              </a:rPr>
              <a:t>💰 Invoicing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We were flying blind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54864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2B8C8"/>
                </a:solidFill>
              </a:rPr>
              <a:t>Managing accounts across Egypt, KSA,
UAE, Bahrain &amp; Jordan — with no single
source of truth.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640080"/>
            <a:ext cx="5486400" cy="169164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640080"/>
            <a:ext cx="54864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8229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82295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Scattered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Revenue, contracts, and churn tracked across
multiple spreadsheets with no consistency.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514600"/>
            <a:ext cx="5486400" cy="169164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514600"/>
            <a:ext cx="54864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697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Couldn't answer basic questions: What's our MRR?
Which accounts are at risk? Who owns what?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389120"/>
            <a:ext cx="5486400" cy="169164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389120"/>
            <a:ext cx="54864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572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Manual Everything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983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Invoices, pipeline updates, and churn tracking
done by hand — slow, error-prone, and painful.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960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One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00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818CF8"/>
                </a:solidFill>
              </a:rPr>
              <a:t>Complete clarity.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2468880"/>
            <a:ext cx="54864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2B8C8"/>
                </a:solidFill>
              </a:rPr>
              <a:t>ShopBrain CRM brings every part of our revenue operation into
a single, real-time, role-aware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20440"/>
            <a:ext cx="3474720" cy="256032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520440"/>
            <a:ext cx="347472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490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18CF8"/>
                </a:solidFill>
              </a:rPr>
              <a:t>Real-time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80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B8C8"/>
                </a:solidFill>
              </a:rPr>
              <a:t>Data syncs automatically. MRR, pipeline,
and onboarding always up to date.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520440"/>
            <a:ext cx="3474720" cy="256032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3520440"/>
            <a:ext cx="347472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7490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EE7B7"/>
                </a:solidFill>
              </a:rPr>
              <a:t>Role-aware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480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B8C8"/>
                </a:solidFill>
              </a:rPr>
              <a:t>Every team member sees exactly what
they need — no more, no less.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9" y="3520440"/>
            <a:ext cx="3474720" cy="256032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9" y="3520440"/>
            <a:ext cx="3474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37490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78BFA"/>
                </a:solidFill>
              </a:rPr>
              <a:t>End-to-end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4480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B8C8"/>
                </a:solidFill>
              </a:rPr>
              <a:t>From first sales touch to invoicing to
churn — the entire lifecycle in one place.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6 Core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3474720" cy="210312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4747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476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CCO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4144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8C8"/>
                </a:solidFill>
              </a:rPr>
              <a:t>Real-time KPIs — total accounts,
MRR, churn rate, active vs. expired.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91640"/>
            <a:ext cx="3474720" cy="210312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691640"/>
            <a:ext cx="34747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920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79" y="19476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Sales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4144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8C8"/>
                </a:solidFill>
              </a:rPr>
              <a:t>Kanban board: Lead → Qualified
→ Closed Won or Lost.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691640"/>
            <a:ext cx="3474720" cy="210312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691640"/>
            <a:ext cx="347472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1920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19" y="19476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Analytics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44144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8C8"/>
                </a:solidFill>
              </a:rPr>
              <a:t>13 analytical views: MRR waterfall,
churn, NRR, cohorts &amp; more.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69080"/>
            <a:ext cx="3474720" cy="210312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069080"/>
            <a:ext cx="3474720" cy="36576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3251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1888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8C8"/>
                </a:solidFill>
              </a:rPr>
              <a:t>Customer Journey Tracker — 7-phase
lifecycle from Deal Closure to AM.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069080"/>
            <a:ext cx="3474720" cy="210312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4069080"/>
            <a:ext cx="3474720" cy="36576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2976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79" y="43251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Invoicing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81888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8C8"/>
                </a:solidFill>
              </a:rPr>
              <a:t>Auto-generate invoices, track AR,
manage Foodics &amp; direct billing.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4069080"/>
            <a:ext cx="3474720" cy="210312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4069080"/>
            <a:ext cx="34747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59" y="42976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19" y="43251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Settings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481888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8C8"/>
                </a:solidFill>
              </a:rPr>
              <a:t>Users, custom roles, pricing config,
and platform administration.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Sales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54864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2B8C8"/>
                </a:solidFill>
              </a:rPr>
              <a:t>Track every opportunity from first contact to a closed deal — Kanban or table 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1005840" cy="292608"/>
          </a:xfrm>
          <a:prstGeom prst="rect">
            <a:avLst/>
          </a:prstGeom>
          <a:solidFill>
            <a:srgbClr val="283040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468879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🎯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4414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89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0552" y="2423160"/>
            <a:ext cx="1577340" cy="292608"/>
          </a:xfrm>
          <a:prstGeom prst="rect">
            <a:avLst/>
          </a:prstGeom>
          <a:solidFill>
            <a:srgbClr val="0F2444"/>
          </a:solidFill>
          <a:ln w="635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2468879"/>
            <a:ext cx="13944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</a:rPr>
              <a:t>🔍 Qualified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5052" y="24414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89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2524" y="2423160"/>
            <a:ext cx="1691640" cy="292608"/>
          </a:xfrm>
          <a:prstGeom prst="rect">
            <a:avLst/>
          </a:prstGeom>
          <a:solidFill>
            <a:srgbClr val="062A1A"/>
          </a:solidFill>
          <a:ln w="635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2252" y="2468879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E7B7"/>
                </a:solidFill>
              </a:rPr>
              <a:t>✅ Closed Won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1324" y="24414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889A"/>
                </a:solidFill>
              </a:rPr>
              <a:t>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8796" y="2423160"/>
            <a:ext cx="1805940" cy="292608"/>
          </a:xfrm>
          <a:prstGeom prst="rect">
            <a:avLst/>
          </a:prstGeom>
          <a:solidFill>
            <a:srgbClr val="2D0A0A"/>
          </a:solidFill>
          <a:ln w="635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8524" y="2468879"/>
            <a:ext cx="16230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A5A5"/>
                </a:solidFill>
              </a:rPr>
              <a:t>✗ Closed Lost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63240"/>
            <a:ext cx="5394960" cy="16002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644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Kanban +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5760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Switch between visual kanban and
sortable / exportable table view.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063240"/>
            <a:ext cx="5394960" cy="16002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2644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At-Risk Flagging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65760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Overdue expected-close dates and
stale leads surfaced automatically.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846320"/>
            <a:ext cx="5394960" cy="16002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474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🔗 Account Linking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44068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Closed Won deals link directly to
CRM accounts for full lifecycle.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846320"/>
            <a:ext cx="5394960" cy="16002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50474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Opportunity Types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44068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New ✨, Expansion 📈, Renewal 🔄
with required account linkage.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Customer Journey Tracker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2B8C8"/>
                </a:solidFill>
              </a:rPr>
              <a:t>Every account moves through 7 lifecycle phases. Auto-syncs based on contract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956816" cy="292608"/>
          </a:xfrm>
          <a:prstGeom prst="rect">
            <a:avLst/>
          </a:prstGeom>
          <a:solidFill>
            <a:srgbClr val="2D1A04"/>
          </a:solidFill>
          <a:ln w="6350">
            <a:solidFill>
              <a:srgbClr val="78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94560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CD34D"/>
                </a:solidFill>
              </a:rPr>
              <a:t>🤝 Deal Closure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2616" y="217627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889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25496" y="2148840"/>
            <a:ext cx="1837943" cy="292608"/>
          </a:xfrm>
          <a:prstGeom prst="rect">
            <a:avLst/>
          </a:prstGeom>
          <a:solidFill>
            <a:srgbClr val="0A1830"/>
          </a:solidFill>
          <a:ln w="6350">
            <a:solidFill>
              <a:srgbClr val="1E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5224" y="2194560"/>
            <a:ext cx="1655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3C5FD"/>
                </a:solidFill>
              </a:rPr>
              <a:t>🏗️ 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7627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889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2148840"/>
            <a:ext cx="1481328" cy="292608"/>
          </a:xfrm>
          <a:prstGeom prst="rect">
            <a:avLst/>
          </a:prstGeom>
          <a:solidFill>
            <a:srgbClr val="1A0D35"/>
          </a:solidFill>
          <a:ln w="635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8" y="219456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78BFA"/>
                </a:solidFill>
              </a:rPr>
              <a:t>📚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7627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889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1968" y="2148840"/>
            <a:ext cx="1719072" cy="292608"/>
          </a:xfrm>
          <a:prstGeom prst="rect">
            <a:avLst/>
          </a:prstGeom>
          <a:solidFill>
            <a:srgbClr val="042320"/>
          </a:solidFill>
          <a:ln w="6350">
            <a:solidFill>
              <a:srgbClr val="0D5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2194560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EEAD4"/>
                </a:solidFill>
              </a:rPr>
              <a:t>🔍 Incubation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7627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889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2148840"/>
            <a:ext cx="1956816" cy="292608"/>
          </a:xfrm>
          <a:prstGeom prst="rect">
            <a:avLst/>
          </a:prstGeom>
          <a:solidFill>
            <a:srgbClr val="052415"/>
          </a:solidFill>
          <a:ln w="635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9368" y="2194560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EE7B7"/>
                </a:solidFill>
              </a:rPr>
              <a:t>⭐ Account Mgmt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697480"/>
            <a:ext cx="5486400" cy="173736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697480"/>
            <a:ext cx="54864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28986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29260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Auto-Expired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35584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Accounts whose contracts lapse naturally
(no cancellation) move automatically to Expired.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697480"/>
            <a:ext cx="5486400" cy="173736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697480"/>
            <a:ext cx="54864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28986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9260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Churned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335584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Accounts with explicit cancellation dates
move to Churned — tracked separately.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617720"/>
            <a:ext cx="5486400" cy="173736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617720"/>
            <a:ext cx="54864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4818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19" y="48463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Task Checklists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527608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Each phase has predefined tasks with
due dates. Track completion per account.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617720"/>
            <a:ext cx="5486400" cy="173736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617720"/>
            <a:ext cx="54864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48188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8463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CSAT &amp; NPS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527608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Log customer satisfaction scores at
every phase. Quarterly NPS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Analytics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2B8C8"/>
                </a:solidFill>
              </a:rPr>
              <a:t>13 purpose-built views covering every angle of revenue performance.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2697480" cy="6858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2496312"/>
            <a:ext cx="118872" cy="1188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0487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MRR 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2240280"/>
            <a:ext cx="2697480" cy="6858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21607" y="2496312"/>
            <a:ext cx="118872" cy="118872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40487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Churn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240280"/>
            <a:ext cx="2697480" cy="6858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1968" y="2496312"/>
            <a:ext cx="118872" cy="118872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40487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Year over 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59" y="2240280"/>
            <a:ext cx="2697480" cy="6858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2328" y="2496312"/>
            <a:ext cx="118872" cy="1188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39" y="240487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NRR Breakdown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81528"/>
            <a:ext cx="2697480" cy="6858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7" y="3337560"/>
            <a:ext cx="118872" cy="118872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2461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Cohort Retention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39" y="3081528"/>
            <a:ext cx="2697480" cy="6858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21607" y="3337560"/>
            <a:ext cx="118872" cy="11887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2461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Quarter over Quarter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081528"/>
            <a:ext cx="2697480" cy="6858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01968" y="3337560"/>
            <a:ext cx="118872" cy="11887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32461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Revenue Quality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59" y="3081528"/>
            <a:ext cx="2697480" cy="6858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82328" y="3337560"/>
            <a:ext cx="118872" cy="11887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39" y="324612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Renewal Pipeline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922776"/>
            <a:ext cx="2697480" cy="6858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7" y="4178808"/>
            <a:ext cx="118872" cy="1188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08736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Month over 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39" y="3922776"/>
            <a:ext cx="2697480" cy="6858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21607" y="4178808"/>
            <a:ext cx="118872" cy="118872"/>
          </a:xfrm>
          <a:prstGeom prst="rect">
            <a:avLst/>
          </a:prstGeom>
          <a:solidFill>
            <a:srgbClr val="FB9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408736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Lead Source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922776"/>
            <a:ext cx="2697480" cy="6858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01968" y="4178808"/>
            <a:ext cx="118872" cy="118872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408736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CS Performance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81159" y="3922776"/>
            <a:ext cx="2697480" cy="68580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82328" y="4178808"/>
            <a:ext cx="118872" cy="1188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39" y="408736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Win / Loss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212080"/>
            <a:ext cx="10881360" cy="502920"/>
          </a:xfrm>
          <a:prstGeom prst="rect">
            <a:avLst/>
          </a:prstGeom>
          <a:solidFill>
            <a:srgbClr val="1A1E40"/>
          </a:solidFill>
          <a:ln w="6350">
            <a:solidFill>
              <a:srgbClr val="353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28523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💡  All analytics are filterable by lead source. Numbers reflect contract data automatically — no manual entry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Invoicing &amp; 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4864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2B8C8"/>
                </a:solidFill>
              </a:rPr>
              <a:t>Auto-generate and track invoices
for Foodics and direct billing channels.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366F1"/>
                </a:solidFill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Deal 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07791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Price deals in real-time with branch pricing,
flat modules, and VAT.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22191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366F1"/>
                </a:solidFill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221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Invoice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69663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Annual, Quarterly, and Special payment types.
Foodics eligibility tracked.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8406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366F1"/>
                </a:solidFill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0840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AR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431536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Full accounts receivable view. Track collection
status and outstanding amounts.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889A"/>
                </a:solidFill>
              </a:rPr>
              <a:t>Invoice Number Format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371600"/>
            <a:ext cx="5029200" cy="640080"/>
          </a:xfrm>
          <a:prstGeom prst="rect">
            <a:avLst/>
          </a:prstGeom>
          <a:solidFill>
            <a:srgbClr val="050510"/>
          </a:solidFill>
          <a:ln w="6350">
            <a:solidFill>
              <a:srgbClr val="25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4264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EE7B7"/>
                </a:solidFill>
              </a:rPr>
              <a:t>SB-2026Q1-a7f3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08483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0889A"/>
                </a:solidFill>
              </a:rPr>
              <a:t>Year  ·  Quarter  ·  Random 4-digit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514600"/>
            <a:ext cx="1600200" cy="173736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59" y="2724912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E7B7"/>
                </a:solidFill>
              </a:rPr>
              <a:t>+38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324612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0889A"/>
                </a:solidFill>
              </a:rPr>
              <a:t>to Foodics
collection eligibility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514600"/>
            <a:ext cx="1600200" cy="173736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9" y="2724912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18CF8"/>
                </a:solidFill>
              </a:rPr>
              <a:t>3 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24612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0889A"/>
                </a:solidFill>
              </a:rPr>
              <a:t>Annual / Quarterly
/ Special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2514600"/>
            <a:ext cx="1600200" cy="173736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2724912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78BFA"/>
                </a:solidFill>
              </a:rPr>
              <a:t>4 tabs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24612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0889A"/>
                </a:solidFill>
              </a:rPr>
              <a:t>Foodics AR, History,
Direct AR, Full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34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8C8"/>
                </a:solidFill>
              </a:rPr>
              <a:t>Foodics-specific AR
Foodics invoice # reconciliation
Collection cycle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The Right Access for Every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2B8C8"/>
                </a:solidFill>
              </a:rPr>
              <a:t>Custom roles with granular per-module permissions. Admins assign roles — no re-login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3474720" cy="292608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4747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CCO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5643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Full access to all modules, settings,
and user management. Can create
custom roles and assign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103120"/>
            <a:ext cx="3474720" cy="292608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103120"/>
            <a:ext cx="347472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71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Revenue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5643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Write access to pipeline and invoicing.
Can create deals, update stages,
and manage invoices.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2103120"/>
            <a:ext cx="3474720" cy="2926080"/>
          </a:xfrm>
          <a:prstGeom prst="rect">
            <a:avLst/>
          </a:prstGeom>
          <a:solidFill>
            <a:srgbClr val="1E1E32"/>
          </a:solidFill>
          <a:ln w="6350">
            <a:solidFill>
              <a:srgbClr val="35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2103120"/>
            <a:ext cx="34747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23317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971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Customer Success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45643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B8C8"/>
                </a:solidFill>
              </a:rPr>
              <a:t>Operations focus — manage customer
journey phases, CSAT/NPS,
and account notes.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solidFill>
            <a:srgbClr val="1A1E40"/>
          </a:solidFill>
          <a:ln w="6350">
            <a:solidFill>
              <a:srgbClr val="353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3095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2B8C8"/>
                </a:solidFill>
              </a:rPr>
              <a:t>🔧  Admins can create custom roles with any combination of module permissions — view, create, edit, or delete — per team member.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-914400"/>
            <a:ext cx="7315200" cy="5486400"/>
          </a:xfrm>
          <a:prstGeom prst="rect">
            <a:avLst/>
          </a:prstGeom>
          <a:solidFill>
            <a:srgbClr val="16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3657600"/>
            <a:ext cx="6400800" cy="4572000"/>
          </a:xfrm>
          <a:prstGeom prst="rect">
            <a:avLst/>
          </a:prstGeom>
          <a:solidFill>
            <a:srgbClr val="0A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0" y="731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LET'S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Ready to Get Started?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18CF8"/>
                </a:solidFill>
              </a:rPr>
              <a:t>Gradient 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3017520"/>
            <a:ext cx="54864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2B8C8"/>
                </a:solidFill>
              </a:rPr>
              <a:t>Your account has been created. Log in and explore —
the full user guide is in the docs folder.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4069080"/>
            <a:ext cx="6309360" cy="1417320"/>
          </a:xfrm>
          <a:prstGeom prst="rect">
            <a:avLst/>
          </a:prstGeom>
          <a:solidFill>
            <a:srgbClr val="181C40"/>
          </a:solidFill>
          <a:ln w="10160">
            <a:solidFill>
              <a:srgbClr val="353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42519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89A"/>
                </a:solidFill>
              </a:rPr>
              <a:t>Platform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5445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</a:rPr>
              <a:t>shopbrain-crm.vercel.app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889A"/>
                </a:solidFill>
              </a:rPr>
              <a:t>First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445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</a:rPr>
              <a:t>Ask your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0889A"/>
                </a:solidFill>
              </a:rPr>
              <a:t>📖  Full user guide:  docs/USER_GUIDE.pdf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